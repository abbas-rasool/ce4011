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4B4D0-0DA5-402B-BF26-95CFA9233737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B42AE-CE81-44D8-AA0B-4A99CA8B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17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B42AE-CE81-44D8-AA0B-4A99CA8B60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08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9235440" y="2286000"/>
            <a:ext cx="2148840" cy="0"/>
          </a:xfrm>
          <a:prstGeom prst="line">
            <a:avLst/>
          </a:prstGeom>
          <a:ln w="27940">
            <a:solidFill>
              <a:srgbClr val="325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235440" y="2286000"/>
            <a:ext cx="0" cy="2651760"/>
          </a:xfrm>
          <a:prstGeom prst="line">
            <a:avLst/>
          </a:prstGeom>
          <a:ln w="27940">
            <a:solidFill>
              <a:srgbClr val="325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384280" y="2286000"/>
            <a:ext cx="0" cy="2651760"/>
          </a:xfrm>
          <a:prstGeom prst="line">
            <a:avLst/>
          </a:prstGeom>
          <a:ln w="27940">
            <a:solidFill>
              <a:srgbClr val="325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62288" y="2212848"/>
            <a:ext cx="146304" cy="146304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2212848"/>
            <a:ext cx="146304" cy="146304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62288" y="4864608"/>
            <a:ext cx="146304" cy="146304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311128" y="4864608"/>
            <a:ext cx="146304" cy="146304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>
            <a:off x="9089136" y="4937760"/>
            <a:ext cx="292608" cy="237744"/>
          </a:xfrm>
          <a:prstGeom prst="triangle">
            <a:avLst/>
          </a:prstGeom>
          <a:solidFill>
            <a:srgbClr val="32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>
            <a:off x="11237976" y="4937760"/>
            <a:ext cx="292608" cy="237744"/>
          </a:xfrm>
          <a:prstGeom prst="triangle">
            <a:avLst/>
          </a:prstGeom>
          <a:solidFill>
            <a:srgbClr val="32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9464040" y="182880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86950" y="182880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09860" y="182880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732770" y="182880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155680" y="182880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D98E32"/>
                </a:solidFill>
                <a:latin typeface="Calibri"/>
              </a:rPr>
              <a:t>C E 4 0 1 1   ·   S T R U C T U R A L   A N A L Y S I S   P R O J E C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828800"/>
            <a:ext cx="8138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2D Structural Analysis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&amp; Timber Design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0" i="0">
                <a:solidFill>
                  <a:srgbClr val="AEC3DC"/>
                </a:solidFill>
                <a:latin typeface="Calibri"/>
              </a:rPr>
              <a:t>A from-scratch direct-stiffness solver with multi-code timber member design.</a:t>
            </a:r>
          </a:p>
          <a:p>
            <a:pPr algn="l"/>
            <a:r>
              <a:rPr sz="1500" b="0" i="0">
                <a:solidFill>
                  <a:srgbClr val="6B7B8F"/>
                </a:solidFill>
                <a:latin typeface="Calibri"/>
              </a:rPr>
              <a:t>Built with  </a:t>
            </a:r>
            <a:r>
              <a:rPr sz="1500" b="1" i="0">
                <a:solidFill>
                  <a:srgbClr val="EBC089"/>
                </a:solidFill>
                <a:latin typeface="Calibri"/>
              </a:rPr>
              <a:t>C#  ·  .NET 10  ·  WPF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" y="5806440"/>
            <a:ext cx="2953512" cy="0"/>
          </a:xfrm>
          <a:prstGeom prst="line">
            <a:avLst/>
          </a:prstGeom>
          <a:ln w="15240">
            <a:solidFill>
              <a:srgbClr val="3C5A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5943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B7B8F"/>
                </a:solidFill>
                <a:latin typeface="Calibri"/>
              </a:rPr>
              <a:t>Presented by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Sayed Ali Abbas Rasool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" y="502920"/>
            <a:ext cx="548640" cy="548640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>
                <a:solidFill>
                  <a:srgbClr val="1B2A41"/>
                </a:solidFill>
                <a:latin typeface="Georgia"/>
              </a:rPr>
              <a:t>Program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0749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1B2A41"/>
                </a:solidFill>
                <a:latin typeface="Calibri"/>
              </a:rPr>
              <a:t>A from-scratch desktop application that analyzes plane frames and trusses by the linear-elastic direct-stiffness (matrix displacement) method, then designs timber members to three international codes.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B2A41"/>
                </a:solidFill>
                <a:latin typeface="Calibri"/>
              </a:rPr>
              <a:t>Every layer — solver, loading engine, design engine and matrix library — is </a:t>
            </a:r>
            <a:r>
              <a:rPr sz="1350" b="1" i="0">
                <a:solidFill>
                  <a:srgbClr val="D98E32"/>
                </a:solidFill>
                <a:latin typeface="Calibri"/>
              </a:rPr>
              <a:t>hand-built</a:t>
            </a:r>
            <a:r>
              <a:rPr sz="1350" b="0" i="0">
                <a:solidFill>
                  <a:srgbClr val="1B2A41"/>
                </a:solidFill>
                <a:latin typeface="Calibri"/>
              </a:rPr>
              <a:t> (only CSparse is external).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B7DA3"/>
                </a:solidFill>
                <a:latin typeface="Calibri"/>
              </a:rPr>
              <a:t>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22191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D98E32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B2A41"/>
                </a:solidFill>
                <a:latin typeface="Calibri"/>
              </a:rPr>
              <a:t>Loads — </a:t>
            </a:r>
            <a:r>
              <a:rPr sz="1300" b="0" i="0">
                <a:solidFill>
                  <a:srgbClr val="6B7B8F"/>
                </a:solidFill>
                <a:latin typeface="Calibri"/>
              </a:rPr>
              <a:t>nodal, UDL, point, thermal &amp; support settlement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8912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D98E32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B2A41"/>
                </a:solidFill>
                <a:latin typeface="Calibri"/>
              </a:rPr>
              <a:t>Modeling — </a:t>
            </a:r>
            <a:r>
              <a:rPr sz="1300" b="0" i="0">
                <a:solidFill>
                  <a:srgbClr val="6B7B8F"/>
                </a:solidFill>
                <a:latin typeface="Calibri"/>
              </a:rPr>
              <a:t>moment releases / internal hinges; frame &amp; truss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56048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D98E32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B2A41"/>
                </a:solidFill>
                <a:latin typeface="Calibri"/>
              </a:rPr>
              <a:t>Results — </a:t>
            </a:r>
            <a:r>
              <a:rPr sz="1300" b="0" i="0">
                <a:solidFill>
                  <a:srgbClr val="6B7B8F"/>
                </a:solidFill>
                <a:latin typeface="Calibri"/>
              </a:rPr>
              <a:t>reactions, displacements, N/V/M diagrams, deflected 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522976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D98E32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1B2A41"/>
                </a:solidFill>
                <a:latin typeface="Calibri"/>
              </a:rPr>
              <a:t>Design — </a:t>
            </a:r>
            <a:r>
              <a:rPr sz="1300" b="0" i="0">
                <a:solidFill>
                  <a:srgbClr val="6B7B8F"/>
                </a:solidFill>
                <a:latin typeface="Calibri"/>
              </a:rPr>
              <a:t>code load combinations &amp; per-member D/C utilization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2542032" cy="2212848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91440" cy="2212848"/>
          </a:xfrm>
          <a:prstGeom prst="rect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91640"/>
            <a:ext cx="21762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B2A41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715768"/>
            <a:ext cx="208483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C5A7C"/>
                </a:solidFill>
                <a:latin typeface="Calibri"/>
              </a:rPr>
              <a:t>design codes</a:t>
            </a:r>
          </a:p>
          <a:p>
            <a:pPr algn="l"/>
            <a:r>
              <a:rPr sz="1100" b="0" i="0">
                <a:solidFill>
                  <a:srgbClr val="6B7B8F"/>
                </a:solidFill>
                <a:latin typeface="Calibri"/>
              </a:rPr>
              <a:t>NDS · EC5 · TBDY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3144" y="1417320"/>
            <a:ext cx="2542032" cy="2212848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53144" y="1417320"/>
            <a:ext cx="91440" cy="2212848"/>
          </a:xfrm>
          <a:prstGeom prst="rect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09176" y="1691640"/>
            <a:ext cx="21762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B2A41"/>
                </a:solidFill>
                <a:latin typeface="Georgia"/>
              </a:rPr>
              <a:t>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2715768"/>
            <a:ext cx="208483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C5A7C"/>
                </a:solidFill>
                <a:latin typeface="Calibri"/>
              </a:rPr>
              <a:t>tests passing</a:t>
            </a:r>
          </a:p>
          <a:p>
            <a:pPr algn="l"/>
            <a:r>
              <a:rPr sz="1100" b="0" i="0">
                <a:solidFill>
                  <a:srgbClr val="6B7B8F"/>
                </a:solidFill>
                <a:latin typeface="Calibri"/>
              </a:rPr>
              <a:t>automated regression suite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886200"/>
            <a:ext cx="2542032" cy="2212848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55080" y="3886200"/>
            <a:ext cx="91440" cy="2212848"/>
          </a:xfrm>
          <a:prstGeom prst="rect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4160520"/>
            <a:ext cx="21762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B2A41"/>
                </a:solidFill>
                <a:latin typeface="Georgia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5184648"/>
            <a:ext cx="208483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C5A7C"/>
                </a:solidFill>
                <a:latin typeface="Calibri"/>
              </a:rPr>
              <a:t>from scratch</a:t>
            </a:r>
          </a:p>
          <a:p>
            <a:pPr algn="l"/>
            <a:r>
              <a:rPr sz="1100" b="0" i="0">
                <a:solidFill>
                  <a:srgbClr val="6B7B8F"/>
                </a:solidFill>
                <a:latin typeface="Calibri"/>
              </a:rPr>
              <a:t>solver · loads · design · matrix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3144" y="3886200"/>
            <a:ext cx="2542032" cy="2212848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53144" y="3886200"/>
            <a:ext cx="91440" cy="2212848"/>
          </a:xfrm>
          <a:prstGeom prst="rect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09176" y="4160520"/>
            <a:ext cx="217627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B2A41"/>
                </a:solidFill>
                <a:latin typeface="Georgia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5184648"/>
            <a:ext cx="208483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C5A7C"/>
                </a:solidFill>
                <a:latin typeface="Calibri"/>
              </a:rPr>
              <a:t>element types</a:t>
            </a:r>
          </a:p>
          <a:p>
            <a:pPr algn="l"/>
            <a:r>
              <a:rPr sz="1100" b="0" i="0">
                <a:solidFill>
                  <a:srgbClr val="6B7B8F"/>
                </a:solidFill>
                <a:latin typeface="Calibri"/>
              </a:rPr>
              <a:t>frame (6 DOF) · truss (4 DOF)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" y="502920"/>
            <a:ext cx="548640" cy="548640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>
                <a:solidFill>
                  <a:srgbClr val="1B2A41"/>
                </a:solidFill>
                <a:latin typeface="Georgia"/>
              </a:rPr>
              <a:t>Layered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98448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1">
                <a:solidFill>
                  <a:srgbClr val="6B7B8F"/>
                </a:solidFill>
                <a:latin typeface="Calibri"/>
              </a:rPr>
              <a:t>Strictly one-directional dependencies — each layer knows only the one beneath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874519"/>
            <a:ext cx="9418320" cy="841248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874519"/>
            <a:ext cx="90525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nsolas"/>
              </a:rPr>
              <a:t>FrameAnalysis.UI</a:t>
            </a:r>
            <a:r>
              <a:rPr sz="1300" b="0" i="0">
                <a:solidFill>
                  <a:srgbClr val="AEC3DC"/>
                </a:solidFill>
                <a:latin typeface="Calibri"/>
              </a:rPr>
              <a:t>   —  WPF shell: XAML views, editable grids, live 2D canvas renderer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715768"/>
            <a:ext cx="0" cy="265176"/>
          </a:xfrm>
          <a:prstGeom prst="line">
            <a:avLst/>
          </a:prstGeom>
          <a:ln w="25400">
            <a:solidFill>
              <a:srgbClr val="5B7D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3017520"/>
            <a:ext cx="9418320" cy="841248"/>
          </a:xfrm>
          <a:prstGeom prst="roundRect">
            <a:avLst>
              <a:gd name="adj" fmla="val 6000"/>
            </a:avLst>
          </a:prstGeom>
          <a:solidFill>
            <a:srgbClr val="5B7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905256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nsolas"/>
              </a:rPr>
              <a:t>FrameAnalysis.UI.Core</a:t>
            </a:r>
            <a:r>
              <a:rPr sz="1300" b="0" i="0">
                <a:solidFill>
                  <a:srgbClr val="EAF1F8"/>
                </a:solidFill>
                <a:latin typeface="Calibri"/>
              </a:rPr>
              <a:t>   —  WPF-free ViewModels, services &amp; DTO mapping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858768"/>
            <a:ext cx="0" cy="256032"/>
          </a:xfrm>
          <a:prstGeom prst="line">
            <a:avLst/>
          </a:prstGeom>
          <a:ln w="25400">
            <a:solidFill>
              <a:srgbClr val="5B7D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68880" y="4114800"/>
            <a:ext cx="7242048" cy="0"/>
          </a:xfrm>
          <a:prstGeom prst="line">
            <a:avLst/>
          </a:prstGeom>
          <a:ln w="25400">
            <a:solidFill>
              <a:srgbClr val="5B7D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63165" y="4114800"/>
            <a:ext cx="0" cy="237744"/>
          </a:xfrm>
          <a:prstGeom prst="line">
            <a:avLst/>
          </a:prstGeom>
          <a:ln w="25400">
            <a:solidFill>
              <a:srgbClr val="5B7D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71600" y="4370832"/>
            <a:ext cx="2183130" cy="1207008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4370832"/>
            <a:ext cx="2183130" cy="109728"/>
          </a:xfrm>
          <a:prstGeom prst="rect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99616" y="4608576"/>
            <a:ext cx="19270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 dirty="0" err="1">
                <a:solidFill>
                  <a:srgbClr val="1B2A41"/>
                </a:solidFill>
                <a:latin typeface="Consolas"/>
              </a:rPr>
              <a:t>FrameAnalysisProgram</a:t>
            </a:r>
            <a:endParaRPr sz="1250" b="1" i="0" dirty="0">
              <a:solidFill>
                <a:srgbClr val="1B2A41"/>
              </a:solidFill>
              <a:latin typeface="Consolas"/>
            </a:endParaRPr>
          </a:p>
          <a:p>
            <a:pPr algn="l">
              <a:lnSpc>
                <a:spcPct val="100000"/>
              </a:lnSpc>
            </a:pPr>
            <a:r>
              <a:rPr sz="1150" b="0" i="0" dirty="0">
                <a:solidFill>
                  <a:srgbClr val="6B7B8F"/>
                </a:solidFill>
                <a:latin typeface="Calibri"/>
              </a:rPr>
              <a:t>Direct-stiffness solver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74895" y="4114800"/>
            <a:ext cx="0" cy="237744"/>
          </a:xfrm>
          <a:prstGeom prst="line">
            <a:avLst/>
          </a:prstGeom>
          <a:ln w="25400">
            <a:solidFill>
              <a:srgbClr val="5B7D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83330" y="4370832"/>
            <a:ext cx="2183130" cy="1207008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783330" y="4370832"/>
            <a:ext cx="2183130" cy="109728"/>
          </a:xfrm>
          <a:prstGeom prst="rect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11346" y="4608576"/>
            <a:ext cx="19270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2A41"/>
                </a:solidFill>
                <a:latin typeface="Consolas"/>
              </a:rPr>
              <a:t>MemberDesigner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B8F"/>
                </a:solidFill>
                <a:latin typeface="Calibri"/>
              </a:rPr>
              <a:t>Timber design engine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86625" y="4114800"/>
            <a:ext cx="0" cy="237744"/>
          </a:xfrm>
          <a:prstGeom prst="line">
            <a:avLst/>
          </a:prstGeom>
          <a:ln w="25400">
            <a:solidFill>
              <a:srgbClr val="5B7D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95060" y="4370832"/>
            <a:ext cx="2183130" cy="1207008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5060" y="4370832"/>
            <a:ext cx="2183130" cy="109728"/>
          </a:xfrm>
          <a:prstGeom prst="rect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3076" y="4608576"/>
            <a:ext cx="19270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2A41"/>
                </a:solidFill>
                <a:latin typeface="Consolas"/>
              </a:rPr>
              <a:t>StructuralLoads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B8F"/>
                </a:solidFill>
                <a:latin typeface="Calibri"/>
              </a:rPr>
              <a:t>Load types &amp; natures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98355" y="4114800"/>
            <a:ext cx="0" cy="237744"/>
          </a:xfrm>
          <a:prstGeom prst="line">
            <a:avLst/>
          </a:prstGeom>
          <a:ln w="25400">
            <a:solidFill>
              <a:srgbClr val="5B7D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06790" y="4370832"/>
            <a:ext cx="2183130" cy="1207008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06790" y="4370832"/>
            <a:ext cx="2183130" cy="109728"/>
          </a:xfrm>
          <a:prstGeom prst="rect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4806" y="4608576"/>
            <a:ext cx="19270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2A41"/>
                </a:solidFill>
                <a:latin typeface="Consolas"/>
              </a:rPr>
              <a:t>Matrix_Library</a:t>
            </a:r>
          </a:p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B8F"/>
                </a:solidFill>
                <a:latin typeface="Calibri"/>
              </a:rPr>
              <a:t>Sparse matrices + CSparse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85216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dirty="0">
                <a:solidFill>
                  <a:srgbClr val="5B7DA3"/>
                </a:solidFill>
                <a:latin typeface="Calibri"/>
              </a:rPr>
              <a:t>Data-flow boundary:  </a:t>
            </a:r>
            <a:r>
              <a:rPr sz="1200" b="0" i="0" dirty="0" err="1">
                <a:solidFill>
                  <a:srgbClr val="1B2A41"/>
                </a:solidFill>
                <a:latin typeface="Consolas"/>
              </a:rPr>
              <a:t>StructureInputData</a:t>
            </a:r>
            <a:r>
              <a:rPr sz="1200" b="0" i="0" dirty="0">
                <a:solidFill>
                  <a:srgbClr val="1B2A41"/>
                </a:solidFill>
                <a:latin typeface="Consolas"/>
              </a:rPr>
              <a:t> → </a:t>
            </a:r>
            <a:r>
              <a:rPr sz="1200" b="0" i="0" dirty="0" err="1">
                <a:solidFill>
                  <a:srgbClr val="1B2A41"/>
                </a:solidFill>
                <a:latin typeface="Consolas"/>
              </a:rPr>
              <a:t>StructureModelBuilder</a:t>
            </a:r>
            <a:r>
              <a:rPr sz="1200" b="0" i="0" dirty="0">
                <a:solidFill>
                  <a:srgbClr val="1B2A41"/>
                </a:solidFill>
                <a:latin typeface="Consolas"/>
              </a:rPr>
              <a:t> → </a:t>
            </a:r>
            <a:r>
              <a:rPr sz="1200" b="0" i="0" dirty="0" err="1">
                <a:solidFill>
                  <a:srgbClr val="1B2A41"/>
                </a:solidFill>
                <a:latin typeface="Consolas"/>
              </a:rPr>
              <a:t>StructureModel</a:t>
            </a:r>
            <a:r>
              <a:rPr sz="1200" b="0" i="0" dirty="0">
                <a:solidFill>
                  <a:srgbClr val="1B2A41"/>
                </a:solidFill>
                <a:latin typeface="Consolas"/>
              </a:rPr>
              <a:t> → </a:t>
            </a:r>
            <a:r>
              <a:rPr sz="1200" b="0" i="0" dirty="0" err="1">
                <a:solidFill>
                  <a:srgbClr val="1B2A41"/>
                </a:solidFill>
                <a:latin typeface="Consolas"/>
              </a:rPr>
              <a:t>FrameAnalyzer.Analyze</a:t>
            </a:r>
            <a:r>
              <a:rPr sz="1200" b="0" i="0" dirty="0">
                <a:solidFill>
                  <a:srgbClr val="1B2A41"/>
                </a:solidFill>
                <a:latin typeface="Consolas"/>
              </a:rPr>
              <a:t> → </a:t>
            </a:r>
            <a:r>
              <a:rPr sz="1200" b="0" i="0" dirty="0" err="1">
                <a:solidFill>
                  <a:srgbClr val="1B2A41"/>
                </a:solidFill>
                <a:latin typeface="Consolas"/>
              </a:rPr>
              <a:t>FrameAnalysisResult</a:t>
            </a:r>
            <a:endParaRPr sz="1200" b="0" i="0" dirty="0">
              <a:solidFill>
                <a:srgbClr val="1B2A41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" y="502920"/>
            <a:ext cx="548640" cy="548640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>
                <a:solidFill>
                  <a:srgbClr val="1B2A41"/>
                </a:solidFill>
                <a:latin typeface="Georgia"/>
              </a:rPr>
              <a:t>Object-Oriented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5138928" cy="178308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417320"/>
            <a:ext cx="91440" cy="1783080"/>
          </a:xfrm>
          <a:prstGeom prst="rect">
            <a:avLst/>
          </a:prstGeom>
          <a:solidFill>
            <a:srgbClr val="5B7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1618488"/>
            <a:ext cx="46360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Georgia"/>
              </a:rPr>
              <a:t>Polymorphic elements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D98E32"/>
                </a:solidFill>
                <a:latin typeface="Consolas"/>
              </a:rPr>
              <a:t>StructuralElement2D  (abstract)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B7B8F"/>
                </a:solidFill>
                <a:latin typeface="Calibri"/>
              </a:rPr>
              <a:t>FrameElement2D (6 DOF) and TrussElement2D (4 DOF) override stiffness &amp; rotation; the assembler treats both uniformly via GetDofAddresses().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417320"/>
            <a:ext cx="5138928" cy="178308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81928" y="1417320"/>
            <a:ext cx="91440" cy="1783080"/>
          </a:xfrm>
          <a:prstGeom prst="rect">
            <a:avLst/>
          </a:prstGeom>
          <a:solidFill>
            <a:srgbClr val="5B7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4536" y="1618488"/>
            <a:ext cx="46360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Georgia"/>
              </a:rPr>
              <a:t>Interface-driven loads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D98E32"/>
                </a:solidFill>
                <a:latin typeface="Consolas"/>
              </a:rPr>
              <a:t>INodalLoad  ·  IMemberLoad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B7B8F"/>
                </a:solidFill>
                <a:latin typeface="Calibri"/>
              </a:rPr>
              <a:t>UniformDistributedLoad, PointLoad and TemperatureLoad each implement AssembleIntoVector() — a new load type never touches the solver.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74720"/>
            <a:ext cx="5138928" cy="178308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3474720"/>
            <a:ext cx="91440" cy="1783080"/>
          </a:xfrm>
          <a:prstGeom prst="rect">
            <a:avLst/>
          </a:prstGeom>
          <a:solidFill>
            <a:srgbClr val="5B7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675887"/>
            <a:ext cx="46360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Georgia"/>
              </a:rPr>
              <a:t>Swappable solvers (Strategy)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D98E32"/>
                </a:solidFill>
                <a:latin typeface="Consolas"/>
              </a:rPr>
              <a:t>ILinearSolver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B7B8F"/>
                </a:solidFill>
                <a:latin typeface="Calibri"/>
              </a:rPr>
              <a:t>SparseLDLtSolver and CSparseCholeskySolver are fully interchangeable behind a single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474720"/>
            <a:ext cx="5138928" cy="178308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81928" y="3474720"/>
            <a:ext cx="91440" cy="1783080"/>
          </a:xfrm>
          <a:prstGeom prst="rect">
            <a:avLst/>
          </a:prstGeom>
          <a:solidFill>
            <a:srgbClr val="5B7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74536" y="3675887"/>
            <a:ext cx="4636008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Georgia"/>
              </a:rPr>
              <a:t>Generic design checks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D98E32"/>
                </a:solidFill>
                <a:latin typeface="Consolas"/>
              </a:rPr>
              <a:t>ITimberDesignCheck&lt;TInput,TData&gt;</a:t>
            </a:r>
          </a:p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6B7B8F"/>
                </a:solidFill>
                <a:latin typeface="Calibri"/>
              </a:rPr>
              <a:t>A dependency graph (parameters → checks) executed in topological levels by ATimberDesigner.CheckDesignAsync.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2"/>
            <a:ext cx="104698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5B7DA3"/>
                </a:solidFill>
                <a:latin typeface="Calibri"/>
              </a:rPr>
              <a:t>Single source of truth:  </a:t>
            </a:r>
            <a:r>
              <a:rPr sz="1250" b="0" i="0">
                <a:solidFill>
                  <a:srgbClr val="1B2A41"/>
                </a:solidFill>
                <a:latin typeface="Calibri"/>
              </a:rPr>
              <a:t>the UI's ProjectDocument (observable VMs, object references) is mapped to the tabular solver DTO only at export — so reorder, insert and delete in the grids are always 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" y="502920"/>
            <a:ext cx="548640" cy="548640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>
                <a:solidFill>
                  <a:srgbClr val="1B2A41"/>
                </a:solidFill>
                <a:latin typeface="Georgia"/>
              </a:rPr>
              <a:t>User Interface &amp;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91256" y="2948940"/>
            <a:ext cx="566928" cy="420624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5B7D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282696" y="3031236"/>
            <a:ext cx="118872" cy="118872"/>
          </a:xfrm>
          <a:prstGeom prst="ellipse">
            <a:avLst/>
          </a:prstGeom>
          <a:solidFill>
            <a:srgbClr val="5B7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>
            <a:off x="3392424" y="3095244"/>
            <a:ext cx="182880" cy="201168"/>
          </a:xfrm>
          <a:prstGeom prst="triangle">
            <a:avLst/>
          </a:prstGeom>
          <a:solidFill>
            <a:srgbClr val="5B7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>
            <a:off x="3538727" y="3040380"/>
            <a:ext cx="237744" cy="256032"/>
          </a:xfrm>
          <a:prstGeom prst="triangle">
            <a:avLst/>
          </a:prstGeom>
          <a:solidFill>
            <a:srgbClr val="5B7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39" y="3479292"/>
            <a:ext cx="4937760" cy="1778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3C5A7C"/>
                </a:solidFill>
                <a:latin typeface="Calibri"/>
              </a:rPr>
              <a:t>Screenshot — application shell</a:t>
            </a:r>
          </a:p>
          <a:p>
            <a:pPr algn="ctr"/>
            <a:r>
              <a:rPr sz="1050" b="0" i="0">
                <a:solidFill>
                  <a:srgbClr val="6B7B8F"/>
                </a:solidFill>
                <a:latin typeface="Calibri"/>
              </a:rPr>
              <a:t>Split window: editable grids (left) · live 2D canvas (right)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1499616"/>
            <a:ext cx="310896" cy="310896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4996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43560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libri"/>
              </a:rPr>
              <a:t>Nodes  </a:t>
            </a:r>
            <a:r>
              <a:rPr sz="1200" b="0" i="0">
                <a:solidFill>
                  <a:srgbClr val="6B7B8F"/>
                </a:solidFill>
                <a:latin typeface="Calibri"/>
              </a:rPr>
              <a:t>(X, Y) coordinates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2034540"/>
            <a:ext cx="310896" cy="310896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0345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97053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libri"/>
              </a:rPr>
              <a:t>Materials  </a:t>
            </a:r>
            <a:r>
              <a:rPr sz="1200" b="0" i="0">
                <a:solidFill>
                  <a:srgbClr val="6B7B8F"/>
                </a:solidFill>
                <a:latin typeface="Calibri"/>
              </a:rPr>
              <a:t>pick a timber grade — design values auto-fill (EN 338 / NDS)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569464"/>
            <a:ext cx="310896" cy="310896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56946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505456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libri"/>
              </a:rPr>
              <a:t>Sections  </a:t>
            </a:r>
            <a:r>
              <a:rPr sz="1200" b="0" i="0">
                <a:solidFill>
                  <a:srgbClr val="6B7B8F"/>
                </a:solidFill>
                <a:latin typeface="Calibri"/>
              </a:rPr>
              <a:t>width × depth, moment of inertia I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3104388"/>
            <a:ext cx="310896" cy="310896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1043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40380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libri"/>
              </a:rPr>
              <a:t>Elements  </a:t>
            </a:r>
            <a:r>
              <a:rPr sz="1200" b="0" i="0">
                <a:solidFill>
                  <a:srgbClr val="6B7B8F"/>
                </a:solidFill>
                <a:latin typeface="Calibri"/>
              </a:rPr>
              <a:t>combo-box refs to node / material / section; frame or truss; moment release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3639312"/>
            <a:ext cx="310896" cy="310896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6393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575304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libri"/>
              </a:rPr>
              <a:t>Supports  </a:t>
            </a:r>
            <a:r>
              <a:rPr sz="1200" b="0" i="0">
                <a:solidFill>
                  <a:srgbClr val="6B7B8F"/>
                </a:solidFill>
                <a:latin typeface="Calibri"/>
              </a:rPr>
              <a:t>restraints + prescribed settlements</a:t>
            </a:r>
          </a:p>
        </p:txBody>
      </p:sp>
      <p:sp>
        <p:nvSpPr>
          <p:cNvPr id="27" name="Oval 26"/>
          <p:cNvSpPr/>
          <p:nvPr/>
        </p:nvSpPr>
        <p:spPr>
          <a:xfrm>
            <a:off x="6355080" y="4174235"/>
            <a:ext cx="310896" cy="310896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417423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110228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libri"/>
              </a:rPr>
              <a:t>Loads  </a:t>
            </a:r>
            <a:r>
              <a:rPr sz="1200" b="0" i="0">
                <a:solidFill>
                  <a:srgbClr val="6B7B8F"/>
                </a:solidFill>
                <a:latin typeface="Calibri"/>
              </a:rPr>
              <a:t>joint · distributed · point · thermal · settlement</a:t>
            </a:r>
          </a:p>
        </p:txBody>
      </p:sp>
      <p:sp>
        <p:nvSpPr>
          <p:cNvPr id="30" name="Oval 29"/>
          <p:cNvSpPr/>
          <p:nvPr/>
        </p:nvSpPr>
        <p:spPr>
          <a:xfrm>
            <a:off x="6355080" y="4709159"/>
            <a:ext cx="310896" cy="310896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470915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64515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libri"/>
              </a:rPr>
              <a:t>Design ▸ Project Details  </a:t>
            </a:r>
            <a:r>
              <a:rPr sz="1200" b="0" i="0">
                <a:solidFill>
                  <a:srgbClr val="6B7B8F"/>
                </a:solidFill>
                <a:latin typeface="Calibri"/>
              </a:rPr>
              <a:t>code · service class / moisture · load duration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5394960"/>
            <a:ext cx="4983480" cy="548640"/>
          </a:xfrm>
          <a:prstGeom prst="roundRect">
            <a:avLst>
              <a:gd name="adj" fmla="val 180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5587879"/>
            <a:ext cx="4709160" cy="1628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 dirty="0">
                <a:solidFill>
                  <a:srgbClr val="3C5A7C"/>
                </a:solidFill>
                <a:latin typeface="Calibri"/>
              </a:rPr>
              <a:t>Live canvas on every edit   ·   Object references (safe reorder / delete)</a:t>
            </a:r>
            <a:endParaRPr lang="en-US" sz="1050" b="0" i="0" dirty="0">
              <a:solidFill>
                <a:srgbClr val="3C5A7C"/>
              </a:solidFill>
              <a:latin typeface="Calibri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4AFC78E-269D-424B-2D16-C9275648B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34" y="1669510"/>
            <a:ext cx="5709266" cy="4314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841248" y="502920"/>
            <a:ext cx="548640" cy="548640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>
                <a:solidFill>
                  <a:srgbClr val="1B2A41"/>
                </a:solidFill>
                <a:latin typeface="Georgia"/>
              </a:rPr>
              <a:t>Live Analysis Demonstration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08132E0-CFEB-7EB9-C58A-A2A647EC07A4}"/>
              </a:ext>
            </a:extLst>
          </p:cNvPr>
          <p:cNvSpPr/>
          <p:nvPr/>
        </p:nvSpPr>
        <p:spPr>
          <a:xfrm>
            <a:off x="841248" y="1478280"/>
            <a:ext cx="548640" cy="548640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A66E1A-2BFE-9889-0EE4-146A9BC87E6C}"/>
              </a:ext>
            </a:extLst>
          </p:cNvPr>
          <p:cNvSpPr txBox="1"/>
          <p:nvPr/>
        </p:nvSpPr>
        <p:spPr>
          <a:xfrm>
            <a:off x="841248" y="14782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EFFC23-39F0-9938-8696-131A7DC9C932}"/>
              </a:ext>
            </a:extLst>
          </p:cNvPr>
          <p:cNvSpPr txBox="1"/>
          <p:nvPr/>
        </p:nvSpPr>
        <p:spPr>
          <a:xfrm>
            <a:off x="1554480" y="143256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 dirty="0">
                <a:solidFill>
                  <a:srgbClr val="1B2A41"/>
                </a:solidFill>
                <a:latin typeface="Georgia"/>
              </a:rPr>
              <a:t>Post-Processing &amp;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841248" y="502920"/>
            <a:ext cx="548640" cy="548640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>
                <a:solidFill>
                  <a:srgbClr val="1B2A41"/>
                </a:solidFill>
                <a:latin typeface="Georgia"/>
              </a:rPr>
              <a:t>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3063240" cy="3840480"/>
          </a:xfrm>
          <a:prstGeom prst="roundRect">
            <a:avLst>
              <a:gd name="adj" fmla="val 4000"/>
            </a:avLst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88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0" b="1" i="0">
                <a:solidFill>
                  <a:srgbClr val="D98E32"/>
                </a:solidFill>
                <a:latin typeface="Georgia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788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of 88 tests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86200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AEC3DC"/>
                </a:solidFill>
                <a:latin typeface="Calibri"/>
              </a:rPr>
              <a:t>Automated regression suite covering the solver, loading, recovery and design engines.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28023"/>
            <a:ext cx="41605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5B7DA3"/>
                </a:solidFill>
                <a:latin typeface="Calibri"/>
              </a:rPr>
              <a:t>HOW IT IS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11680"/>
            <a:ext cx="8001000" cy="982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 dirty="0">
                <a:solidFill>
                  <a:srgbClr val="D98E32"/>
                </a:solidFill>
                <a:latin typeface="Calibri"/>
              </a:rPr>
              <a:t>▪  </a:t>
            </a:r>
            <a:r>
              <a:rPr sz="2000" b="1" i="0" dirty="0">
                <a:solidFill>
                  <a:srgbClr val="1B2A41"/>
                </a:solidFill>
                <a:latin typeface="Calibri"/>
              </a:rPr>
              <a:t>Closed-form checks</a:t>
            </a:r>
          </a:p>
          <a:p>
            <a:pPr algn="l">
              <a:lnSpc>
                <a:spcPct val="108000"/>
              </a:lnSpc>
            </a:pPr>
            <a:r>
              <a:rPr lang="en-US" sz="2000" b="0" i="0" dirty="0">
                <a:solidFill>
                  <a:srgbClr val="6B7B8F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6B7B8F"/>
                </a:solidFill>
                <a:latin typeface="Calibri"/>
              </a:rPr>
              <a:t>cantilever, simply-supported UDL &amp; point load</a:t>
            </a:r>
            <a:r>
              <a:rPr lang="en-US" sz="2000" b="0" i="0" dirty="0">
                <a:solidFill>
                  <a:srgbClr val="6B7B8F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6B7B8F"/>
                </a:solidFill>
                <a:latin typeface="Calibri"/>
              </a:rPr>
              <a:t>(SectionForceRecoveryTests).</a:t>
            </a:r>
            <a:endParaRPr lang="en-US" sz="2000" b="0" i="0" dirty="0">
              <a:solidFill>
                <a:srgbClr val="6B7B8F"/>
              </a:solidFill>
              <a:latin typeface="Calibri"/>
            </a:endParaRPr>
          </a:p>
          <a:p>
            <a:pPr algn="l">
              <a:lnSpc>
                <a:spcPct val="108000"/>
              </a:lnSpc>
            </a:pPr>
            <a:endParaRPr sz="2000" b="0" i="0" dirty="0">
              <a:solidFill>
                <a:srgbClr val="6B7B8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9080" y="3103783"/>
            <a:ext cx="6934200" cy="650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 dirty="0">
                <a:solidFill>
                  <a:srgbClr val="D98E32"/>
                </a:solidFill>
                <a:latin typeface="Calibri"/>
              </a:rPr>
              <a:t>▪  </a:t>
            </a:r>
            <a:r>
              <a:rPr sz="2000" b="1" i="0" dirty="0">
                <a:solidFill>
                  <a:srgbClr val="1B2A41"/>
                </a:solidFill>
                <a:latin typeface="Calibri"/>
              </a:rPr>
              <a:t>Equilibrium residual</a:t>
            </a:r>
          </a:p>
          <a:p>
            <a:pPr algn="l">
              <a:lnSpc>
                <a:spcPct val="108000"/>
              </a:lnSpc>
            </a:pPr>
            <a:r>
              <a:rPr sz="2000" b="0" i="0" dirty="0">
                <a:solidFill>
                  <a:srgbClr val="6B7B8F"/>
                </a:solidFill>
                <a:latin typeface="Calibri"/>
              </a:rPr>
              <a:t>internal ||K·U − F|| check after every solve.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9562" y="4169663"/>
            <a:ext cx="41605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 dirty="0">
                <a:solidFill>
                  <a:srgbClr val="D98E32"/>
                </a:solidFill>
                <a:latin typeface="Calibri"/>
              </a:rPr>
              <a:t>▪  </a:t>
            </a:r>
            <a:r>
              <a:rPr sz="2000" b="1" i="0" dirty="0">
                <a:solidFill>
                  <a:srgbClr val="1B2A41"/>
                </a:solidFill>
                <a:latin typeface="Calibri"/>
              </a:rPr>
              <a:t>Hand-calc</a:t>
            </a:r>
            <a:endParaRPr sz="2000" b="0" i="0" dirty="0">
              <a:solidFill>
                <a:srgbClr val="6B7B8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" y="502920"/>
            <a:ext cx="548640" cy="548640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5720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>
                <a:solidFill>
                  <a:srgbClr val="1B2A41"/>
                </a:solidFill>
                <a:latin typeface="Georgia"/>
              </a:rPr>
              <a:t>Limitations &amp;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63040"/>
            <a:ext cx="5138928" cy="4206240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463040"/>
            <a:ext cx="91440" cy="4206240"/>
          </a:xfrm>
          <a:prstGeom prst="rect">
            <a:avLst/>
          </a:prstGeom>
          <a:solidFill>
            <a:srgbClr val="5B7D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Georgia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 dirty="0">
                <a:solidFill>
                  <a:srgbClr val="5B7DA3"/>
                </a:solidFill>
                <a:latin typeface="Calibri"/>
              </a:rPr>
              <a:t>▪  </a:t>
            </a:r>
            <a:r>
              <a:rPr sz="1250" b="0" i="0" dirty="0">
                <a:solidFill>
                  <a:srgbClr val="1B2A41"/>
                </a:solidFill>
                <a:latin typeface="Calibri"/>
              </a:rPr>
              <a:t>2D only — no minor-axis / out-of-plane / 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4617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5B7DA3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1B2A41"/>
                </a:solidFill>
                <a:latin typeface="Calibri"/>
              </a:rPr>
              <a:t>Linear-elastic, small-displacement — no P-Δ, buckling lengths, or modal / dynamic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617720" cy="206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 dirty="0">
                <a:solidFill>
                  <a:srgbClr val="5B7DA3"/>
                </a:solidFill>
                <a:latin typeface="Calibri"/>
              </a:rPr>
              <a:t>▪  </a:t>
            </a:r>
            <a:r>
              <a:rPr sz="1250" b="0" i="0" dirty="0">
                <a:solidFill>
                  <a:srgbClr val="1B2A41"/>
                </a:solidFill>
                <a:latin typeface="Calibri"/>
              </a:rPr>
              <a:t>Timber design only</a:t>
            </a:r>
            <a:r>
              <a:rPr lang="en-US" sz="1250" b="0" i="0" dirty="0">
                <a:solidFill>
                  <a:srgbClr val="1B2A41"/>
                </a:solidFill>
                <a:latin typeface="Calibri"/>
              </a:rPr>
              <a:t>, </a:t>
            </a:r>
            <a:r>
              <a:rPr sz="1250" b="0" i="0" dirty="0">
                <a:solidFill>
                  <a:srgbClr val="1B2A41"/>
                </a:solidFill>
                <a:latin typeface="Calibri"/>
              </a:rPr>
              <a:t>solid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" y="4617720"/>
            <a:ext cx="4617720" cy="414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 dirty="0">
                <a:solidFill>
                  <a:srgbClr val="5B7DA3"/>
                </a:solidFill>
                <a:latin typeface="Calibri"/>
              </a:rPr>
              <a:t>▪  </a:t>
            </a:r>
            <a:r>
              <a:rPr sz="1250" b="0" i="0" dirty="0">
                <a:solidFill>
                  <a:srgbClr val="1B2A41"/>
                </a:solidFill>
                <a:latin typeface="Calibri"/>
              </a:rPr>
              <a:t>No project save / load yet</a:t>
            </a:r>
            <a:r>
              <a:rPr lang="en-US" sz="1250" dirty="0">
                <a:solidFill>
                  <a:srgbClr val="1B2A41"/>
                </a:solidFill>
                <a:latin typeface="Calibri"/>
              </a:rPr>
              <a:t> and not very well detailed </a:t>
            </a:r>
            <a:r>
              <a:rPr lang="en-US" sz="1250" dirty="0">
                <a:solidFill>
                  <a:srgbClr val="1B2A41"/>
                </a:solidFill>
              </a:rPr>
              <a:t> calc-report export</a:t>
            </a:r>
            <a:endParaRPr sz="1250" b="0" i="0" dirty="0">
              <a:solidFill>
                <a:srgbClr val="1B2A41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5138928" cy="4206240"/>
          </a:xfrm>
          <a:prstGeom prst="roundRect">
            <a:avLst>
              <a:gd name="adj" fmla="val 3500"/>
            </a:avLst>
          </a:prstGeom>
          <a:solidFill>
            <a:srgbClr val="FBF3E6"/>
          </a:solidFill>
          <a:ln w="12700">
            <a:solidFill>
              <a:srgbClr val="EBC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463040"/>
            <a:ext cx="91440" cy="4206240"/>
          </a:xfrm>
          <a:prstGeom prst="rect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9A5B12"/>
                </a:solidFill>
                <a:latin typeface="Georgia"/>
              </a:rPr>
              <a:t>Planned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286000"/>
            <a:ext cx="4617720" cy="2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 dirty="0">
                <a:solidFill>
                  <a:srgbClr val="D98E32"/>
                </a:solidFill>
                <a:latin typeface="Calibri"/>
              </a:rPr>
              <a:t>▸  </a:t>
            </a:r>
            <a:r>
              <a:rPr sz="1250" b="0" i="0" dirty="0">
                <a:solidFill>
                  <a:srgbClr val="1B2A41"/>
                </a:solidFill>
                <a:latin typeface="Calibri"/>
              </a:rPr>
              <a:t>Project persistence (JSON)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349161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 dirty="0">
                <a:solidFill>
                  <a:srgbClr val="D98E32"/>
                </a:solidFill>
                <a:latin typeface="Calibri"/>
              </a:rPr>
              <a:t>▸  </a:t>
            </a:r>
            <a:r>
              <a:rPr sz="1250" b="0" i="0" dirty="0">
                <a:solidFill>
                  <a:srgbClr val="1B2A41"/>
                </a:solidFill>
                <a:latin typeface="Calibri"/>
              </a:rPr>
              <a:t>3D analysis via the swappable </a:t>
            </a:r>
            <a:r>
              <a:rPr sz="1250" b="0" i="0" dirty="0" err="1">
                <a:solidFill>
                  <a:srgbClr val="1B2A41"/>
                </a:solidFill>
                <a:latin typeface="Calibri"/>
              </a:rPr>
              <a:t>IStructuralRenderer</a:t>
            </a:r>
            <a:endParaRPr sz="1250" b="0" i="0" dirty="0">
              <a:solidFill>
                <a:srgbClr val="1B2A41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9672" y="2758891"/>
            <a:ext cx="4617720" cy="414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 dirty="0">
                <a:solidFill>
                  <a:srgbClr val="D98E32"/>
                </a:solidFill>
                <a:latin typeface="Calibri"/>
              </a:rPr>
              <a:t>▸  </a:t>
            </a:r>
            <a:r>
              <a:rPr sz="1250" b="0" i="0" dirty="0">
                <a:solidFill>
                  <a:srgbClr val="1B2A41"/>
                </a:solidFill>
                <a:latin typeface="Calibri"/>
              </a:rPr>
              <a:t>Full design envelope across all load combinations</a:t>
            </a:r>
            <a:r>
              <a:rPr lang="en-US" sz="1250" b="0" i="0" dirty="0">
                <a:solidFill>
                  <a:srgbClr val="1B2A41"/>
                </a:solidFill>
                <a:latin typeface="Calibri"/>
              </a:rPr>
              <a:t> in the analysis phase as well. </a:t>
            </a:r>
            <a:endParaRPr sz="1250" b="0" i="0" dirty="0">
              <a:solidFill>
                <a:srgbClr val="1B2A41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1FE19-1421-1CFF-186B-A7D267151AF5}"/>
              </a:ext>
            </a:extLst>
          </p:cNvPr>
          <p:cNvSpPr txBox="1"/>
          <p:nvPr/>
        </p:nvSpPr>
        <p:spPr>
          <a:xfrm>
            <a:off x="6519672" y="3718560"/>
            <a:ext cx="4617720" cy="2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1" i="0" dirty="0">
                <a:solidFill>
                  <a:srgbClr val="D98E32"/>
                </a:solidFill>
                <a:latin typeface="Calibri"/>
              </a:rPr>
              <a:t>▸</a:t>
            </a:r>
            <a:r>
              <a:rPr lang="en-US" sz="1300" b="1" dirty="0">
                <a:solidFill>
                  <a:srgbClr val="D98E32"/>
                </a:solidFill>
                <a:latin typeface="Calibri"/>
              </a:rPr>
              <a:t> </a:t>
            </a:r>
            <a:r>
              <a:rPr lang="en-US" sz="1250" dirty="0">
                <a:solidFill>
                  <a:srgbClr val="1B2A41"/>
                </a:solidFill>
              </a:rPr>
              <a:t>More testing and validation.</a:t>
            </a:r>
            <a:endParaRPr sz="1250" b="0" i="0" dirty="0">
              <a:solidFill>
                <a:srgbClr val="1B2A4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8869680" y="2240280"/>
            <a:ext cx="2514600" cy="0"/>
          </a:xfrm>
          <a:prstGeom prst="line">
            <a:avLst/>
          </a:prstGeom>
          <a:ln w="27940">
            <a:solidFill>
              <a:srgbClr val="325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869680" y="2240280"/>
            <a:ext cx="0" cy="2743200"/>
          </a:xfrm>
          <a:prstGeom prst="line">
            <a:avLst/>
          </a:prstGeom>
          <a:ln w="27940">
            <a:solidFill>
              <a:srgbClr val="325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384280" y="2240280"/>
            <a:ext cx="0" cy="2743200"/>
          </a:xfrm>
          <a:prstGeom prst="line">
            <a:avLst/>
          </a:prstGeom>
          <a:ln w="27940">
            <a:solidFill>
              <a:srgbClr val="325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796528" y="2167128"/>
            <a:ext cx="146304" cy="146304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11128" y="2167128"/>
            <a:ext cx="146304" cy="146304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96528" y="4910328"/>
            <a:ext cx="146304" cy="146304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311128" y="4910328"/>
            <a:ext cx="146304" cy="146304"/>
          </a:xfrm>
          <a:prstGeom prst="ellipse">
            <a:avLst/>
          </a:prstGeom>
          <a:solidFill>
            <a:srgbClr val="D98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>
            <a:off x="8723376" y="4983480"/>
            <a:ext cx="292608" cy="237744"/>
          </a:xfrm>
          <a:prstGeom prst="triangle">
            <a:avLst/>
          </a:prstGeom>
          <a:solidFill>
            <a:srgbClr val="32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>
            <a:off x="11237976" y="4983480"/>
            <a:ext cx="292608" cy="237744"/>
          </a:xfrm>
          <a:prstGeom prst="triangle">
            <a:avLst/>
          </a:prstGeom>
          <a:solidFill>
            <a:srgbClr val="32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9098280" y="178308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12630" y="178308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26980" y="178308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641330" y="178308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155680" y="1783080"/>
            <a:ext cx="0" cy="402336"/>
          </a:xfrm>
          <a:prstGeom prst="line">
            <a:avLst/>
          </a:prstGeom>
          <a:ln w="15240">
            <a:solidFill>
              <a:srgbClr val="3250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21945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42900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EBC089"/>
                </a:solidFill>
                <a:latin typeface="Calibri"/>
              </a:rPr>
              <a:t>2D Structural Analysis &amp; Timber Design Suite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5256" y="4114800"/>
            <a:ext cx="2752344" cy="0"/>
          </a:xfrm>
          <a:prstGeom prst="line">
            <a:avLst/>
          </a:prstGeom>
          <a:ln w="15240">
            <a:solidFill>
              <a:srgbClr val="3C5A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86968" y="4251960"/>
            <a:ext cx="7315200" cy="48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FFFFFF"/>
                </a:solidFill>
                <a:latin typeface="Calibri"/>
              </a:rPr>
              <a:t>Sayed Ali Abbas Rasool</a:t>
            </a:r>
            <a:endParaRPr lang="en-US" sz="14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717</Words>
  <Application>Microsoft Office PowerPoint</Application>
  <PresentationFormat>Widescreen</PresentationFormat>
  <Paragraphs>106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Abbas Rasool</cp:lastModifiedBy>
  <cp:revision>2</cp:revision>
  <dcterms:created xsi:type="dcterms:W3CDTF">2013-01-27T09:14:16Z</dcterms:created>
  <dcterms:modified xsi:type="dcterms:W3CDTF">2026-06-19T06:42:29Z</dcterms:modified>
  <cp:category/>
</cp:coreProperties>
</file>